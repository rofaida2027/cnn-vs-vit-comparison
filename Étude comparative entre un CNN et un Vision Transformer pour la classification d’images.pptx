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elegraf" charset="1" panose="00000500000000000000"/>
      <p:regular r:id="rId25"/>
    </p:embeddedFont>
    <p:embeddedFont>
      <p:font typeface="Telegraf Bold" charset="1" panose="00000800000000000000"/>
      <p:regular r:id="rId26"/>
    </p:embeddedFont>
    <p:embeddedFont>
      <p:font typeface="Open Sans Bold" charset="1" panose="020B08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6465" y="879937"/>
            <a:ext cx="7453924" cy="9407063"/>
          </a:xfrm>
          <a:custGeom>
            <a:avLst/>
            <a:gdLst/>
            <a:ahLst/>
            <a:cxnLst/>
            <a:rect r="r" b="b" t="t" l="l"/>
            <a:pathLst>
              <a:path h="9407063" w="7453924">
                <a:moveTo>
                  <a:pt x="0" y="0"/>
                </a:moveTo>
                <a:lnTo>
                  <a:pt x="7453924" y="0"/>
                </a:lnTo>
                <a:lnTo>
                  <a:pt x="7453924" y="9407063"/>
                </a:lnTo>
                <a:lnTo>
                  <a:pt x="0" y="9407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518" t="-3109" r="-1373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55163"/>
            <a:ext cx="11294041" cy="445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6"/>
              </a:lnSpc>
            </a:pPr>
            <a:r>
              <a:rPr lang="en-US" sz="72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Étude comparative entre un CNN et un Vision Transformer pour la classification d’images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821383" y="8591894"/>
            <a:ext cx="4763036" cy="1332811"/>
            <a:chOff x="0" y="0"/>
            <a:chExt cx="1254462" cy="351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462" cy="351029"/>
            </a:xfrm>
            <a:custGeom>
              <a:avLst/>
              <a:gdLst/>
              <a:ahLst/>
              <a:cxnLst/>
              <a:rect r="r" b="b" t="t" l="l"/>
              <a:pathLst>
                <a:path h="351029" w="1254462">
                  <a:moveTo>
                    <a:pt x="42261" y="0"/>
                  </a:moveTo>
                  <a:lnTo>
                    <a:pt x="1212201" y="0"/>
                  </a:lnTo>
                  <a:cubicBezTo>
                    <a:pt x="1223410" y="0"/>
                    <a:pt x="1234159" y="4452"/>
                    <a:pt x="1242084" y="12378"/>
                  </a:cubicBezTo>
                  <a:cubicBezTo>
                    <a:pt x="1250010" y="20303"/>
                    <a:pt x="1254462" y="31053"/>
                    <a:pt x="1254462" y="42261"/>
                  </a:cubicBezTo>
                  <a:lnTo>
                    <a:pt x="1254462" y="308768"/>
                  </a:lnTo>
                  <a:cubicBezTo>
                    <a:pt x="1254462" y="319976"/>
                    <a:pt x="1250010" y="330725"/>
                    <a:pt x="1242084" y="338651"/>
                  </a:cubicBezTo>
                  <a:cubicBezTo>
                    <a:pt x="1234159" y="346576"/>
                    <a:pt x="1223410" y="351029"/>
                    <a:pt x="1212201" y="351029"/>
                  </a:cubicBezTo>
                  <a:lnTo>
                    <a:pt x="42261" y="351029"/>
                  </a:lnTo>
                  <a:cubicBezTo>
                    <a:pt x="31053" y="351029"/>
                    <a:pt x="20303" y="346576"/>
                    <a:pt x="12378" y="338651"/>
                  </a:cubicBezTo>
                  <a:cubicBezTo>
                    <a:pt x="4452" y="330725"/>
                    <a:pt x="0" y="319976"/>
                    <a:pt x="0" y="308768"/>
                  </a:cubicBezTo>
                  <a:lnTo>
                    <a:pt x="0" y="42261"/>
                  </a:lnTo>
                  <a:cubicBezTo>
                    <a:pt x="0" y="31053"/>
                    <a:pt x="4452" y="20303"/>
                    <a:pt x="12378" y="12378"/>
                  </a:cubicBezTo>
                  <a:cubicBezTo>
                    <a:pt x="20303" y="4452"/>
                    <a:pt x="31053" y="0"/>
                    <a:pt x="422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254462" cy="417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 spc="10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Framework : PyTorch</a:t>
              </a:r>
            </a:p>
            <a:p>
              <a:pPr algn="l" marL="539748" indent="-269874" lvl="1">
                <a:lnSpc>
                  <a:spcPts val="32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 spc="10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Dataset : CIFAR-10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5183" y="636781"/>
            <a:ext cx="607033" cy="486312"/>
          </a:xfrm>
          <a:custGeom>
            <a:avLst/>
            <a:gdLst/>
            <a:ahLst/>
            <a:cxnLst/>
            <a:rect r="r" b="b" t="t" l="l"/>
            <a:pathLst>
              <a:path h="486312" w="607033">
                <a:moveTo>
                  <a:pt x="0" y="0"/>
                </a:moveTo>
                <a:lnTo>
                  <a:pt x="607034" y="0"/>
                </a:lnTo>
                <a:lnTo>
                  <a:pt x="607034" y="486312"/>
                </a:lnTo>
                <a:lnTo>
                  <a:pt x="0" y="486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6783015"/>
            <a:ext cx="3411302" cy="158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Réalisé</a:t>
            </a: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par : </a:t>
            </a:r>
          </a:p>
          <a:p>
            <a:pPr algn="l">
              <a:lnSpc>
                <a:spcPts val="3107"/>
              </a:lnSpc>
            </a:pP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BELKHIRI Imane</a:t>
            </a:r>
          </a:p>
          <a:p>
            <a:pPr algn="l">
              <a:lnSpc>
                <a:spcPts val="3107"/>
              </a:lnSpc>
            </a:pP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CHETOUI Besma</a:t>
            </a:r>
          </a:p>
          <a:p>
            <a:pPr algn="l" marL="0" indent="0" lvl="0">
              <a:lnSpc>
                <a:spcPts val="3107"/>
              </a:lnSpc>
            </a:pP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BOUCHENAFA Nassira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1599" y="6783015"/>
            <a:ext cx="3411302" cy="80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Encadré par :</a:t>
            </a:r>
          </a:p>
          <a:p>
            <a:pPr algn="l" marL="0" indent="0" lvl="0">
              <a:lnSpc>
                <a:spcPts val="3107"/>
              </a:lnSpc>
            </a:pPr>
            <a:r>
              <a:rPr lang="en-US" sz="2219" spc="9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Mme.BAKALEM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18518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9588" y="3111803"/>
            <a:ext cx="571981" cy="57198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9588" y="4108368"/>
            <a:ext cx="571981" cy="5719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9588" y="5340161"/>
            <a:ext cx="571981" cy="57198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9588" y="6569367"/>
            <a:ext cx="571981" cy="5719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04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939039" y="1194461"/>
            <a:ext cx="6872146" cy="9092539"/>
          </a:xfrm>
          <a:custGeom>
            <a:avLst/>
            <a:gdLst/>
            <a:ahLst/>
            <a:cxnLst/>
            <a:rect r="r" b="b" t="t" l="l"/>
            <a:pathLst>
              <a:path h="9092539" w="6872146">
                <a:moveTo>
                  <a:pt x="0" y="0"/>
                </a:moveTo>
                <a:lnTo>
                  <a:pt x="6872146" y="0"/>
                </a:lnTo>
                <a:lnTo>
                  <a:pt x="6872146" y="9092539"/>
                </a:lnTo>
                <a:lnTo>
                  <a:pt x="0" y="9092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413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9588" y="1447555"/>
            <a:ext cx="9536271" cy="148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65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AGENDA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2183" y="3049646"/>
            <a:ext cx="8053372" cy="64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27"/>
              </a:lnSpc>
            </a:pPr>
            <a:r>
              <a:rPr lang="en-US" b="true" sz="3519" spc="14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3519" spc="14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ntr</a:t>
            </a:r>
            <a:r>
              <a:rPr lang="en-US" b="true" sz="3519" spc="14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</a:t>
            </a:r>
            <a:r>
              <a:rPr lang="en-US" b="true" sz="3519" spc="14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ducti</a:t>
            </a:r>
            <a:r>
              <a:rPr lang="en-US" b="true" sz="3519" spc="14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</a:t>
            </a:r>
            <a:r>
              <a:rPr lang="en-US" b="true" sz="3519" spc="147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2183" y="4003593"/>
            <a:ext cx="10546335" cy="1622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7"/>
              </a:lnSpc>
            </a:pPr>
            <a:r>
              <a:rPr lang="en-US" b="true" sz="3219" spc="13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ch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itecture 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Overv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ie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w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–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CNN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&amp;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isi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ransf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orm</a:t>
            </a:r>
            <a:r>
              <a:rPr lang="en-US" b="true" sz="3219" spc="135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er</a:t>
            </a:r>
          </a:p>
          <a:p>
            <a:pPr algn="l">
              <a:lnSpc>
                <a:spcPts val="352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032183" y="5244911"/>
            <a:ext cx="8053372" cy="108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b="true" sz="3019" spc="12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Détails d’implementation 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–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PyTo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ch,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ataset 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&amp;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Tr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ai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32183" y="6487563"/>
            <a:ext cx="8053372" cy="108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7"/>
              </a:lnSpc>
            </a:pP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ltats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–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précision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,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itesse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,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pa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am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èt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29588" y="8972309"/>
            <a:ext cx="571981" cy="57198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9588" y="7722373"/>
            <a:ext cx="571981" cy="57198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05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71037" y="8941803"/>
            <a:ext cx="8053372" cy="60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7"/>
              </a:lnSpc>
            </a:pPr>
            <a:r>
              <a:rPr lang="en-US" b="true" sz="3319" spc="13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</a:t>
            </a:r>
            <a:r>
              <a:rPr lang="en-US" b="true" sz="3319" spc="139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nclusion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71037" y="7704054"/>
            <a:ext cx="8053372" cy="108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7"/>
              </a:lnSpc>
            </a:pPr>
            <a:r>
              <a:rPr lang="en-US" b="true" sz="3019" spc="12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comparative 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– Forces &amp; limites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5067" y="1442209"/>
            <a:ext cx="13746521" cy="7603164"/>
            <a:chOff x="0" y="0"/>
            <a:chExt cx="3620483" cy="20024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0483" cy="2002480"/>
            </a:xfrm>
            <a:custGeom>
              <a:avLst/>
              <a:gdLst/>
              <a:ahLst/>
              <a:cxnLst/>
              <a:rect r="r" b="b" t="t" l="l"/>
              <a:pathLst>
                <a:path h="2002480" w="3620483">
                  <a:moveTo>
                    <a:pt x="0" y="0"/>
                  </a:moveTo>
                  <a:lnTo>
                    <a:pt x="3620483" y="0"/>
                  </a:lnTo>
                  <a:lnTo>
                    <a:pt x="3620483" y="2002480"/>
                  </a:lnTo>
                  <a:lnTo>
                    <a:pt x="0" y="2002480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3620483" cy="2078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50869" y="1798380"/>
            <a:ext cx="9786261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9843" y="2892551"/>
            <a:ext cx="10628314" cy="530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3"/>
              </a:lnSpc>
            </a:pPr>
            <a:r>
              <a:rPr lang="en-US" sz="2359" spc="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Avec l’ess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or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 d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eep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ning, la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clas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fica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ion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d’i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con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nu d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avan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maje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ur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 grâce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ux réseaux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neurone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volu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(CNN)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Récemm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nt,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former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(V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T) on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rgé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comme une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erna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 explo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nt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m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éc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d’a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to-att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tion issu du NLP.</a:t>
            </a:r>
          </a:p>
          <a:p>
            <a:pPr algn="l" marL="0" indent="0" lvl="0">
              <a:lnSpc>
                <a:spcPts val="3303"/>
              </a:lnSpc>
            </a:pPr>
          </a:p>
          <a:p>
            <a:pPr algn="l" marL="0" indent="0" lvl="0">
              <a:lnSpc>
                <a:spcPts val="3303"/>
              </a:lnSpc>
            </a:pPr>
            <a:r>
              <a:rPr lang="en-US" sz="2359" spc="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L’objectif de ce mini-projet est de réaliser une étude comparative approfondie entre :</a:t>
            </a:r>
          </a:p>
          <a:p>
            <a:pPr algn="l" marL="466339" indent="-233170" lvl="1">
              <a:lnSpc>
                <a:spcPts val="3023"/>
              </a:lnSpc>
              <a:buFont typeface="Arial"/>
              <a:buChar char="•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 CNN classique</a:t>
            </a:r>
          </a:p>
          <a:p>
            <a:pPr algn="l" marL="466339" indent="-233170" lvl="1">
              <a:lnSpc>
                <a:spcPts val="3023"/>
              </a:lnSpc>
              <a:buFont typeface="Arial"/>
              <a:buChar char="•"/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 Vision Transformer (ViT)</a:t>
            </a:r>
          </a:p>
          <a:p>
            <a:pPr algn="l">
              <a:lnSpc>
                <a:spcPts val="3023"/>
              </a:lnSpc>
            </a:pPr>
          </a:p>
          <a:p>
            <a:pPr algn="l" marL="0" indent="0" lvl="0">
              <a:lnSpc>
                <a:spcPts val="3163"/>
              </a:lnSpc>
            </a:pPr>
            <a:r>
              <a:rPr lang="en-US" sz="2259" spc="94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La comparaison est effectuée sur le dataset CIFAR-10, en utilisant PyTorch, selon les critères de performance, complexité et efficacité.</a:t>
            </a:r>
          </a:p>
          <a:p>
            <a:pPr algn="l" marL="0" indent="0" lvl="0">
              <a:lnSpc>
                <a:spcPts val="316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289004"/>
            <a:ext cx="18986706" cy="12734594"/>
            <a:chOff x="0" y="0"/>
            <a:chExt cx="2339129" cy="1568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9129" cy="1568880"/>
            </a:xfrm>
            <a:custGeom>
              <a:avLst/>
              <a:gdLst/>
              <a:ahLst/>
              <a:cxnLst/>
              <a:rect r="r" b="b" t="t" l="l"/>
              <a:pathLst>
                <a:path h="1568880" w="2339129">
                  <a:moveTo>
                    <a:pt x="15902" y="0"/>
                  </a:moveTo>
                  <a:lnTo>
                    <a:pt x="2323226" y="0"/>
                  </a:lnTo>
                  <a:cubicBezTo>
                    <a:pt x="2332009" y="0"/>
                    <a:pt x="2339129" y="7120"/>
                    <a:pt x="2339129" y="15902"/>
                  </a:cubicBezTo>
                  <a:lnTo>
                    <a:pt x="2339129" y="1552977"/>
                  </a:lnTo>
                  <a:cubicBezTo>
                    <a:pt x="2339129" y="1561760"/>
                    <a:pt x="2332009" y="1568880"/>
                    <a:pt x="2323226" y="1568880"/>
                  </a:cubicBezTo>
                  <a:lnTo>
                    <a:pt x="15902" y="1568880"/>
                  </a:lnTo>
                  <a:cubicBezTo>
                    <a:pt x="7120" y="1568880"/>
                    <a:pt x="0" y="1561760"/>
                    <a:pt x="0" y="1552977"/>
                  </a:cubicBezTo>
                  <a:lnTo>
                    <a:pt x="0" y="15902"/>
                  </a:lnTo>
                  <a:cubicBezTo>
                    <a:pt x="0" y="7120"/>
                    <a:pt x="7120" y="0"/>
                    <a:pt x="15902" y="0"/>
                  </a:cubicBezTo>
                  <a:close/>
                </a:path>
              </a:pathLst>
            </a:custGeom>
            <a:blipFill>
              <a:blip r:embed="rId3">
                <a:alphaModFix amt="24000"/>
              </a:blip>
              <a:stretch>
                <a:fillRect l="-334" t="0" r="-334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48761" y="521612"/>
            <a:ext cx="16309045" cy="84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2"/>
              </a:lnSpc>
            </a:pPr>
            <a:r>
              <a:rPr lang="en-US" sz="4894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Architecture Overview – CNN &amp; Vision Transformer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6771" y="3663320"/>
            <a:ext cx="10422691" cy="287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80"/>
              </a:lnSpc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CNN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 CNN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p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is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é,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composé d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onvolut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onne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(Conv2D)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ns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d’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iv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LU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ng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(M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ax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Pool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ng)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fully connected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ou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la classifica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</a:t>
            </a:r>
          </a:p>
          <a:p>
            <a:pPr algn="just" marL="0" indent="0" lvl="0">
              <a:lnSpc>
                <a:spcPts val="37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56771" y="6856594"/>
            <a:ext cx="7499907" cy="287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80"/>
              </a:lnSpc>
            </a:pPr>
            <a:r>
              <a:rPr lang="en-US" sz="2700" spc="11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ip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Ex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ion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d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car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istique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(bord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,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ext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,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for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mes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)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p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oid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parti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 à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ansla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</a:t>
            </a:r>
          </a:p>
          <a:p>
            <a:pPr algn="just" marL="0" indent="0" lvl="0">
              <a:lnSpc>
                <a:spcPts val="37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48761" y="2192714"/>
            <a:ext cx="12527025" cy="84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2"/>
              </a:lnSpc>
            </a:pPr>
            <a:r>
              <a:rPr lang="en-US" sz="4894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1. Convolutional Neural Network (CNN)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289004"/>
            <a:ext cx="18986706" cy="12734594"/>
            <a:chOff x="0" y="0"/>
            <a:chExt cx="2339129" cy="1568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9129" cy="1568880"/>
            </a:xfrm>
            <a:custGeom>
              <a:avLst/>
              <a:gdLst/>
              <a:ahLst/>
              <a:cxnLst/>
              <a:rect r="r" b="b" t="t" l="l"/>
              <a:pathLst>
                <a:path h="1568880" w="2339129">
                  <a:moveTo>
                    <a:pt x="15902" y="0"/>
                  </a:moveTo>
                  <a:lnTo>
                    <a:pt x="2323226" y="0"/>
                  </a:lnTo>
                  <a:cubicBezTo>
                    <a:pt x="2332009" y="0"/>
                    <a:pt x="2339129" y="7120"/>
                    <a:pt x="2339129" y="15902"/>
                  </a:cubicBezTo>
                  <a:lnTo>
                    <a:pt x="2339129" y="1552977"/>
                  </a:lnTo>
                  <a:cubicBezTo>
                    <a:pt x="2339129" y="1561760"/>
                    <a:pt x="2332009" y="1568880"/>
                    <a:pt x="2323226" y="1568880"/>
                  </a:cubicBezTo>
                  <a:lnTo>
                    <a:pt x="15902" y="1568880"/>
                  </a:lnTo>
                  <a:cubicBezTo>
                    <a:pt x="7120" y="1568880"/>
                    <a:pt x="0" y="1561760"/>
                    <a:pt x="0" y="1552977"/>
                  </a:cubicBezTo>
                  <a:lnTo>
                    <a:pt x="0" y="15902"/>
                  </a:lnTo>
                  <a:cubicBezTo>
                    <a:pt x="0" y="7120"/>
                    <a:pt x="7120" y="0"/>
                    <a:pt x="15902" y="0"/>
                  </a:cubicBezTo>
                  <a:close/>
                </a:path>
              </a:pathLst>
            </a:custGeom>
            <a:blipFill>
              <a:blip r:embed="rId3">
                <a:alphaModFix amt="24000"/>
              </a:blip>
              <a:stretch>
                <a:fillRect l="-334" t="0" r="-334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48761" y="521612"/>
            <a:ext cx="16309045" cy="84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2"/>
              </a:lnSpc>
            </a:pPr>
            <a:r>
              <a:rPr lang="en-US" sz="4894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Architecture Overview – CNN &amp; Vision Transformer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25195"/>
            <a:ext cx="10766548" cy="335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80"/>
              </a:lnSpc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ision Transformer re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ur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appro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che radicaleme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nt différen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 :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L’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image est déco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pé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en patc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hes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Chaq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ue patch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est pro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je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 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u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mb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ddi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Appl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ication du méc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sme de self-attention glo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ba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</a:p>
          <a:p>
            <a:pPr algn="just" marL="583022" indent="-291511" lvl="1">
              <a:lnSpc>
                <a:spcPts val="3780"/>
              </a:lnSpc>
              <a:buFont typeface="Arial"/>
              <a:buChar char="•"/>
            </a:pP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 t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ken [CLS] 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est u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isé</a:t>
            </a:r>
            <a:r>
              <a:rPr lang="en-US" sz="2700" spc="113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pour la classification</a:t>
            </a:r>
          </a:p>
          <a:p>
            <a:pPr algn="just" marL="0" indent="0" lvl="0">
              <a:lnSpc>
                <a:spcPts val="37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48761" y="2192714"/>
            <a:ext cx="12527025" cy="244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2"/>
              </a:lnSpc>
            </a:pPr>
            <a:r>
              <a:rPr lang="en-US" sz="4894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2. Vision Transformer (ViT)</a:t>
            </a:r>
          </a:p>
          <a:p>
            <a:pPr algn="l">
              <a:lnSpc>
                <a:spcPts val="6362"/>
              </a:lnSpc>
            </a:pPr>
          </a:p>
          <a:p>
            <a:pPr algn="l">
              <a:lnSpc>
                <a:spcPts val="636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706" y="0"/>
            <a:ext cx="18986706" cy="12734594"/>
            <a:chOff x="0" y="0"/>
            <a:chExt cx="2339129" cy="1568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9129" cy="1568880"/>
            </a:xfrm>
            <a:custGeom>
              <a:avLst/>
              <a:gdLst/>
              <a:ahLst/>
              <a:cxnLst/>
              <a:rect r="r" b="b" t="t" l="l"/>
              <a:pathLst>
                <a:path h="1568880" w="2339129">
                  <a:moveTo>
                    <a:pt x="15902" y="0"/>
                  </a:moveTo>
                  <a:lnTo>
                    <a:pt x="2323226" y="0"/>
                  </a:lnTo>
                  <a:cubicBezTo>
                    <a:pt x="2332009" y="0"/>
                    <a:pt x="2339129" y="7120"/>
                    <a:pt x="2339129" y="15902"/>
                  </a:cubicBezTo>
                  <a:lnTo>
                    <a:pt x="2339129" y="1552977"/>
                  </a:lnTo>
                  <a:cubicBezTo>
                    <a:pt x="2339129" y="1561760"/>
                    <a:pt x="2332009" y="1568880"/>
                    <a:pt x="2323226" y="1568880"/>
                  </a:cubicBezTo>
                  <a:lnTo>
                    <a:pt x="15902" y="1568880"/>
                  </a:lnTo>
                  <a:cubicBezTo>
                    <a:pt x="7120" y="1568880"/>
                    <a:pt x="0" y="1561760"/>
                    <a:pt x="0" y="1552977"/>
                  </a:cubicBezTo>
                  <a:lnTo>
                    <a:pt x="0" y="15902"/>
                  </a:lnTo>
                  <a:cubicBezTo>
                    <a:pt x="0" y="7120"/>
                    <a:pt x="7120" y="0"/>
                    <a:pt x="15902" y="0"/>
                  </a:cubicBezTo>
                  <a:close/>
                </a:path>
              </a:pathLst>
            </a:custGeom>
            <a:blipFill>
              <a:blip r:embed="rId3">
                <a:alphaModFix amt="24000"/>
              </a:blip>
              <a:stretch>
                <a:fillRect l="-334" t="0" r="-334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88120" y="2259899"/>
            <a:ext cx="15053110" cy="7714719"/>
          </a:xfrm>
          <a:custGeom>
            <a:avLst/>
            <a:gdLst/>
            <a:ahLst/>
            <a:cxnLst/>
            <a:rect r="r" b="b" t="t" l="l"/>
            <a:pathLst>
              <a:path h="7714719" w="15053110">
                <a:moveTo>
                  <a:pt x="0" y="0"/>
                </a:moveTo>
                <a:lnTo>
                  <a:pt x="15053110" y="0"/>
                </a:lnTo>
                <a:lnTo>
                  <a:pt x="15053110" y="7714719"/>
                </a:lnTo>
                <a:lnTo>
                  <a:pt x="0" y="7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8761" y="521612"/>
            <a:ext cx="16309045" cy="84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2"/>
              </a:lnSpc>
            </a:pPr>
            <a:r>
              <a:rPr lang="en-US" sz="4894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Architecture Overview – CNN &amp; Vision Transformer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706" y="0"/>
            <a:ext cx="18986706" cy="12734594"/>
            <a:chOff x="0" y="0"/>
            <a:chExt cx="2339129" cy="1568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9129" cy="1568880"/>
            </a:xfrm>
            <a:custGeom>
              <a:avLst/>
              <a:gdLst/>
              <a:ahLst/>
              <a:cxnLst/>
              <a:rect r="r" b="b" t="t" l="l"/>
              <a:pathLst>
                <a:path h="1568880" w="2339129">
                  <a:moveTo>
                    <a:pt x="15902" y="0"/>
                  </a:moveTo>
                  <a:lnTo>
                    <a:pt x="2323226" y="0"/>
                  </a:lnTo>
                  <a:cubicBezTo>
                    <a:pt x="2332009" y="0"/>
                    <a:pt x="2339129" y="7120"/>
                    <a:pt x="2339129" y="15902"/>
                  </a:cubicBezTo>
                  <a:lnTo>
                    <a:pt x="2339129" y="1552977"/>
                  </a:lnTo>
                  <a:cubicBezTo>
                    <a:pt x="2339129" y="1561760"/>
                    <a:pt x="2332009" y="1568880"/>
                    <a:pt x="2323226" y="1568880"/>
                  </a:cubicBezTo>
                  <a:lnTo>
                    <a:pt x="15902" y="1568880"/>
                  </a:lnTo>
                  <a:cubicBezTo>
                    <a:pt x="7120" y="1568880"/>
                    <a:pt x="0" y="1561760"/>
                    <a:pt x="0" y="1552977"/>
                  </a:cubicBezTo>
                  <a:lnTo>
                    <a:pt x="0" y="15902"/>
                  </a:lnTo>
                  <a:cubicBezTo>
                    <a:pt x="0" y="7120"/>
                    <a:pt x="7120" y="0"/>
                    <a:pt x="15902" y="0"/>
                  </a:cubicBezTo>
                  <a:close/>
                </a:path>
              </a:pathLst>
            </a:custGeom>
            <a:blipFill>
              <a:blip r:embed="rId3">
                <a:alphaModFix amt="24000"/>
              </a:blip>
              <a:stretch>
                <a:fillRect l="-334" t="0" r="-334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83024" y="2374692"/>
            <a:ext cx="15355272" cy="7524083"/>
          </a:xfrm>
          <a:custGeom>
            <a:avLst/>
            <a:gdLst/>
            <a:ahLst/>
            <a:cxnLst/>
            <a:rect r="r" b="b" t="t" l="l"/>
            <a:pathLst>
              <a:path h="7524083" w="15355272">
                <a:moveTo>
                  <a:pt x="0" y="0"/>
                </a:moveTo>
                <a:lnTo>
                  <a:pt x="15355272" y="0"/>
                </a:lnTo>
                <a:lnTo>
                  <a:pt x="15355272" y="7524083"/>
                </a:lnTo>
                <a:lnTo>
                  <a:pt x="0" y="752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8761" y="521612"/>
            <a:ext cx="16309045" cy="84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2"/>
              </a:lnSpc>
            </a:pPr>
            <a:r>
              <a:rPr lang="en-US" sz="4894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Architecture Overview – CNN &amp; Vision Transformer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2806" t="-48141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37078" y="904875"/>
            <a:ext cx="13774830" cy="104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9"/>
              </a:lnSpc>
            </a:pPr>
            <a:r>
              <a:rPr lang="en-US" sz="6114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Implementation Details – PyTorch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8143" y="2945079"/>
            <a:ext cx="2289632" cy="5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27"/>
              </a:lnSpc>
            </a:pP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1.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</a:t>
            </a:r>
            <a:r>
              <a:rPr lang="en-US" b="true" sz="3019" spc="126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8143" y="3890898"/>
            <a:ext cx="4413346" cy="218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taset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CIFAR-10</a:t>
            </a:r>
          </a:p>
          <a:p>
            <a:pPr algn="just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60000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RGB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(32×32)</a:t>
            </a:r>
          </a:p>
          <a:p>
            <a:pPr algn="just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10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cl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ss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</a:t>
            </a:r>
          </a:p>
          <a:p>
            <a:pPr algn="just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Spl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50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000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tra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/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10 000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test</a:t>
            </a:r>
          </a:p>
          <a:p>
            <a:pPr algn="just" marL="0" indent="0" lvl="0">
              <a:lnSpc>
                <a:spcPts val="286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72791" y="3709923"/>
            <a:ext cx="3764565" cy="254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orm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al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is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ation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ag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</a:p>
          <a:p>
            <a:pPr algn="l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ersi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en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t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seu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PyTor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</a:t>
            </a:r>
          </a:p>
          <a:p>
            <a:pPr algn="l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aLoa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 l’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în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ent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test</a:t>
            </a:r>
          </a:p>
          <a:p>
            <a:pPr algn="just" marL="0" indent="0" lvl="0">
              <a:lnSpc>
                <a:spcPts val="28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804439" y="3387808"/>
            <a:ext cx="5585155" cy="740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800" indent="-224900" lvl="1">
              <a:lnSpc>
                <a:spcPts val="2916"/>
              </a:lnSpc>
              <a:buFont typeface="Arial"/>
              <a:buChar char="•"/>
            </a:pPr>
            <a:r>
              <a:rPr lang="en-US" sz="2083" spc="8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083" spc="8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onction de perte : CrossEntropyLoss</a:t>
            </a:r>
          </a:p>
          <a:p>
            <a:pPr algn="l" marL="449800" indent="-224900" lvl="1">
              <a:lnSpc>
                <a:spcPts val="2916"/>
              </a:lnSpc>
              <a:buFont typeface="Arial"/>
              <a:buChar char="•"/>
            </a:pPr>
            <a:r>
              <a:rPr lang="en-US" sz="2083" spc="8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Mesure l’erreur entre les prédictions du modèle et les vraies classes (très utilisée pour la classification).</a:t>
            </a:r>
          </a:p>
          <a:p>
            <a:pPr algn="l" marL="449800" indent="-224900" lvl="1">
              <a:lnSpc>
                <a:spcPts val="2916"/>
              </a:lnSpc>
              <a:buFont typeface="Arial"/>
              <a:buChar char="•"/>
            </a:pPr>
            <a:r>
              <a:rPr lang="en-US" sz="2083" spc="8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Optimiseur : Adam</a:t>
            </a:r>
          </a:p>
          <a:p>
            <a:pPr algn="l" marL="449800" indent="-224900" lvl="1">
              <a:lnSpc>
                <a:spcPts val="2916"/>
              </a:lnSpc>
              <a:buFont typeface="Arial"/>
              <a:buChar char="•"/>
            </a:pPr>
            <a:r>
              <a:rPr lang="en-US" sz="2083" spc="8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Algorithme qui ajuste automatiquement les poids du modèle pour minimiser la perte, rapide et efficace.</a:t>
            </a:r>
          </a:p>
          <a:p>
            <a:pPr algn="l" marL="449800" indent="-224900" lvl="1">
              <a:lnSpc>
                <a:spcPts val="2916"/>
              </a:lnSpc>
              <a:buFont typeface="Arial"/>
              <a:buChar char="•"/>
            </a:pPr>
            <a:r>
              <a:rPr lang="en-US" sz="2083" spc="8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Entraînement sur plusieurs epochs</a:t>
            </a:r>
          </a:p>
          <a:p>
            <a:pPr algn="l" marL="449800" indent="-224900" lvl="1">
              <a:lnSpc>
                <a:spcPts val="2916"/>
              </a:lnSpc>
              <a:buFont typeface="Arial"/>
              <a:buChar char="•"/>
            </a:pPr>
            <a:r>
              <a:rPr lang="en-US" sz="2083" spc="8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Le modèle voit tout le dataset plusieurs fois pour mieux apprendre et améliorer ses performances.</a:t>
            </a:r>
          </a:p>
          <a:p>
            <a:pPr algn="l" marL="449800" indent="-224900" lvl="1">
              <a:lnSpc>
                <a:spcPts val="2916"/>
              </a:lnSpc>
              <a:buFont typeface="Arial"/>
              <a:buChar char="•"/>
            </a:pPr>
            <a:r>
              <a:rPr lang="en-US" sz="2083" spc="8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Évaluation sur le test set à chaque epoch</a:t>
            </a:r>
          </a:p>
          <a:p>
            <a:pPr algn="l" marL="449800" indent="-224900" lvl="1">
              <a:lnSpc>
                <a:spcPts val="2916"/>
              </a:lnSpc>
              <a:buFont typeface="Arial"/>
              <a:buChar char="•"/>
            </a:pPr>
            <a:r>
              <a:rPr lang="en-US" sz="2083" spc="87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Permet de vérifier après chaque epoch si le modèle généralise bien (détecter overfitting / underfitting).</a:t>
            </a:r>
          </a:p>
          <a:p>
            <a:pPr algn="just" marL="449800" indent="-224900" lvl="1">
              <a:lnSpc>
                <a:spcPts val="2916"/>
              </a:lnSpc>
              <a:buFont typeface="Arial"/>
              <a:buChar char="•"/>
            </a:pPr>
          </a:p>
          <a:p>
            <a:pPr algn="just" marL="0" indent="0" lvl="0">
              <a:lnSpc>
                <a:spcPts val="291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179981" y="3914307"/>
            <a:ext cx="4108019" cy="144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GPU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si di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ni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(CUDA)</a:t>
            </a:r>
          </a:p>
          <a:p>
            <a:pPr algn="l" marL="441139" indent="-220569" lvl="1">
              <a:lnSpc>
                <a:spcPts val="2860"/>
              </a:lnSpc>
              <a:buFont typeface="Arial"/>
              <a:buChar char="•"/>
            </a:pP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Imp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tati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 m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od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la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oduc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</a:t>
            </a:r>
            <a:r>
              <a:rPr lang="en-US" sz="2043" spc="85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ble</a:t>
            </a:r>
          </a:p>
          <a:p>
            <a:pPr algn="l" marL="0" indent="0" lvl="0">
              <a:lnSpc>
                <a:spcPts val="27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836526" y="2945079"/>
            <a:ext cx="4451474" cy="51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7"/>
              </a:lnSpc>
            </a:pPr>
            <a:r>
              <a:rPr lang="en-US" b="true" sz="2819" spc="118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4.</a:t>
            </a:r>
            <a:r>
              <a:rPr lang="en-US" b="true" sz="2819" spc="118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Environnements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4492" y="2945079"/>
            <a:ext cx="3349858" cy="51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7"/>
              </a:lnSpc>
            </a:pPr>
            <a:r>
              <a:rPr lang="en-US" b="true" sz="2819" spc="11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  <a:r>
              <a:rPr lang="en-US" b="true" sz="2819" spc="118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. Entraînement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14403" y="2945079"/>
            <a:ext cx="3922953" cy="51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7"/>
              </a:lnSpc>
            </a:pPr>
            <a:r>
              <a:rPr lang="en-US" b="true" sz="2819" spc="118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2.</a:t>
            </a:r>
            <a:r>
              <a:rPr lang="en-US" b="true" sz="2819" spc="118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Prétraitement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32504" y="1714359"/>
            <a:ext cx="4421737" cy="1020425"/>
            <a:chOff x="0" y="0"/>
            <a:chExt cx="1076227" cy="2483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6227" cy="248366"/>
            </a:xfrm>
            <a:custGeom>
              <a:avLst/>
              <a:gdLst/>
              <a:ahLst/>
              <a:cxnLst/>
              <a:rect r="r" b="b" t="t" l="l"/>
              <a:pathLst>
                <a:path h="248366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223854"/>
                  </a:lnTo>
                  <a:cubicBezTo>
                    <a:pt x="1076227" y="237391"/>
                    <a:pt x="1065252" y="248366"/>
                    <a:pt x="1051715" y="248366"/>
                  </a:cubicBezTo>
                  <a:lnTo>
                    <a:pt x="24512" y="248366"/>
                  </a:lnTo>
                  <a:cubicBezTo>
                    <a:pt x="10975" y="248366"/>
                    <a:pt x="0" y="237391"/>
                    <a:pt x="0" y="223854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076227" cy="324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224572"/>
            <a:ext cx="7657072" cy="7829270"/>
          </a:xfrm>
          <a:custGeom>
            <a:avLst/>
            <a:gdLst/>
            <a:ahLst/>
            <a:cxnLst/>
            <a:rect r="r" b="b" t="t" l="l"/>
            <a:pathLst>
              <a:path h="7829270" w="7657072">
                <a:moveTo>
                  <a:pt x="0" y="0"/>
                </a:moveTo>
                <a:lnTo>
                  <a:pt x="7657072" y="0"/>
                </a:lnTo>
                <a:lnTo>
                  <a:pt x="7657072" y="7829270"/>
                </a:lnTo>
                <a:lnTo>
                  <a:pt x="0" y="7829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2778" y="226453"/>
            <a:ext cx="16843232" cy="98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</a:pPr>
            <a:r>
              <a:rPr lang="en-US" sz="575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Préparation des Données et Configuration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23873" y="1028700"/>
            <a:ext cx="4421737" cy="1020425"/>
            <a:chOff x="0" y="0"/>
            <a:chExt cx="1076227" cy="248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6227" cy="248366"/>
            </a:xfrm>
            <a:custGeom>
              <a:avLst/>
              <a:gdLst/>
              <a:ahLst/>
              <a:cxnLst/>
              <a:rect r="r" b="b" t="t" l="l"/>
              <a:pathLst>
                <a:path h="248366" w="1076227">
                  <a:moveTo>
                    <a:pt x="24512" y="0"/>
                  </a:moveTo>
                  <a:lnTo>
                    <a:pt x="1051715" y="0"/>
                  </a:lnTo>
                  <a:cubicBezTo>
                    <a:pt x="1065252" y="0"/>
                    <a:pt x="1076227" y="10975"/>
                    <a:pt x="1076227" y="24512"/>
                  </a:cubicBezTo>
                  <a:lnTo>
                    <a:pt x="1076227" y="223854"/>
                  </a:lnTo>
                  <a:cubicBezTo>
                    <a:pt x="1076227" y="237391"/>
                    <a:pt x="1065252" y="248366"/>
                    <a:pt x="1051715" y="248366"/>
                  </a:cubicBezTo>
                  <a:lnTo>
                    <a:pt x="24512" y="248366"/>
                  </a:lnTo>
                  <a:cubicBezTo>
                    <a:pt x="10975" y="248366"/>
                    <a:pt x="0" y="237391"/>
                    <a:pt x="0" y="223854"/>
                  </a:cubicBezTo>
                  <a:lnTo>
                    <a:pt x="0" y="24512"/>
                  </a:lnTo>
                  <a:cubicBezTo>
                    <a:pt x="0" y="10975"/>
                    <a:pt x="10975" y="0"/>
                    <a:pt x="245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076227" cy="324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129173" y="3239609"/>
            <a:ext cx="7973186" cy="6523516"/>
          </a:xfrm>
          <a:custGeom>
            <a:avLst/>
            <a:gdLst/>
            <a:ahLst/>
            <a:cxnLst/>
            <a:rect r="r" b="b" t="t" l="l"/>
            <a:pathLst>
              <a:path h="6523516" w="7973186">
                <a:moveTo>
                  <a:pt x="0" y="0"/>
                </a:moveTo>
                <a:lnTo>
                  <a:pt x="7973186" y="0"/>
                </a:lnTo>
                <a:lnTo>
                  <a:pt x="7973186" y="6523516"/>
                </a:lnTo>
                <a:lnTo>
                  <a:pt x="0" y="6523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24589" y="1904810"/>
            <a:ext cx="4037568" cy="54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25"/>
              </a:lnSpc>
            </a:pPr>
            <a:r>
              <a:rPr lang="en-US" b="true" sz="2946" spc="12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POUR</a:t>
            </a:r>
            <a:r>
              <a:rPr lang="en-US" b="true" sz="2946" spc="12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ViT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15957" y="1219151"/>
            <a:ext cx="4037568" cy="54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25"/>
              </a:lnSpc>
            </a:pPr>
            <a:r>
              <a:rPr lang="en-US" b="true" sz="2946" spc="12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POUR</a:t>
            </a:r>
            <a:r>
              <a:rPr lang="en-US" b="true" sz="2946" spc="12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CNN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84978" y="4947561"/>
            <a:ext cx="12972843" cy="5339439"/>
            <a:chOff x="0" y="0"/>
            <a:chExt cx="3416716" cy="1406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16716" cy="1406272"/>
            </a:xfrm>
            <a:custGeom>
              <a:avLst/>
              <a:gdLst/>
              <a:ahLst/>
              <a:cxnLst/>
              <a:rect r="r" b="b" t="t" l="l"/>
              <a:pathLst>
                <a:path h="1406272" w="3416716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true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0352" y="2477607"/>
            <a:ext cx="8189064" cy="7407084"/>
          </a:xfrm>
          <a:custGeom>
            <a:avLst/>
            <a:gdLst/>
            <a:ahLst/>
            <a:cxnLst/>
            <a:rect r="r" b="b" t="t" l="l"/>
            <a:pathLst>
              <a:path h="7407084" w="8189064">
                <a:moveTo>
                  <a:pt x="0" y="0"/>
                </a:moveTo>
                <a:lnTo>
                  <a:pt x="8189064" y="0"/>
                </a:lnTo>
                <a:lnTo>
                  <a:pt x="8189064" y="7407085"/>
                </a:lnTo>
                <a:lnTo>
                  <a:pt x="0" y="7407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792810"/>
            <a:ext cx="8510625" cy="5902363"/>
          </a:xfrm>
          <a:custGeom>
            <a:avLst/>
            <a:gdLst/>
            <a:ahLst/>
            <a:cxnLst/>
            <a:rect r="r" b="b" t="t" l="l"/>
            <a:pathLst>
              <a:path h="5902363" w="8510625">
                <a:moveTo>
                  <a:pt x="0" y="0"/>
                </a:moveTo>
                <a:lnTo>
                  <a:pt x="8510625" y="0"/>
                </a:lnTo>
                <a:lnTo>
                  <a:pt x="8510625" y="5902363"/>
                </a:lnTo>
                <a:lnTo>
                  <a:pt x="0" y="5902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3353" y="222369"/>
            <a:ext cx="16921295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Entraînement et Analyse de l’Apprentissage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4917" y="1513016"/>
            <a:ext cx="3680123" cy="62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66006" indent="-383003" lvl="1">
              <a:lnSpc>
                <a:spcPts val="4612"/>
              </a:lnSpc>
              <a:spcBef>
                <a:spcPct val="0"/>
              </a:spcBef>
              <a:buAutoNum type="arabicPeriod" startAt="1"/>
            </a:pPr>
            <a:r>
              <a:rPr lang="en-US" b="true" sz="3547" spc="1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POUR CNN 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9988" y="343695"/>
            <a:ext cx="13939443" cy="9497496"/>
          </a:xfrm>
          <a:custGeom>
            <a:avLst/>
            <a:gdLst/>
            <a:ahLst/>
            <a:cxnLst/>
            <a:rect r="r" b="b" t="t" l="l"/>
            <a:pathLst>
              <a:path h="9497496" w="13939443">
                <a:moveTo>
                  <a:pt x="0" y="0"/>
                </a:moveTo>
                <a:lnTo>
                  <a:pt x="13939443" y="0"/>
                </a:lnTo>
                <a:lnTo>
                  <a:pt x="13939443" y="9497496"/>
                </a:lnTo>
                <a:lnTo>
                  <a:pt x="0" y="9497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66783" y="7088949"/>
            <a:ext cx="10550440" cy="2895489"/>
          </a:xfrm>
          <a:custGeom>
            <a:avLst/>
            <a:gdLst/>
            <a:ahLst/>
            <a:cxnLst/>
            <a:rect r="r" b="b" t="t" l="l"/>
            <a:pathLst>
              <a:path h="2895489" w="10550440">
                <a:moveTo>
                  <a:pt x="0" y="0"/>
                </a:moveTo>
                <a:lnTo>
                  <a:pt x="10550439" y="0"/>
                </a:lnTo>
                <a:lnTo>
                  <a:pt x="10550439" y="2895490"/>
                </a:lnTo>
                <a:lnTo>
                  <a:pt x="0" y="2895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465" y="223662"/>
            <a:ext cx="13008431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de l’apprentissage (CNN)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6285" y="3489769"/>
            <a:ext cx="14468051" cy="359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</a:pPr>
            <a:r>
              <a:rPr lang="en-US" sz="2300" spc="9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vale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fonc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ion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 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ué de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1.36 à 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ère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épo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que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à 0.62 à 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50ᵉ époque,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in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q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nt u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conve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nc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sta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du modèl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l" marL="0" indent="0" lvl="0">
              <a:lnSpc>
                <a:spcPts val="4759"/>
              </a:lnSpc>
            </a:pP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Évo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ut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 l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 pr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éc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sion (Acc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</a:t>
            </a: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racy) :</a:t>
            </a:r>
          </a:p>
          <a:p>
            <a:pPr algn="l" marL="0" indent="0" lvl="0">
              <a:lnSpc>
                <a:spcPts val="3023"/>
              </a:lnSpc>
            </a:pPr>
            <a:r>
              <a:rPr lang="en-US" sz="2159" spc="9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L’accuracy est passée de 59.15 % au début de l’entraînement à environ 83 % en fin d’apprentissage.</a:t>
            </a:r>
          </a:p>
          <a:p>
            <a:pPr algn="l" marL="0" indent="0" lvl="0">
              <a:lnSpc>
                <a:spcPts val="4760"/>
              </a:lnSpc>
            </a:pPr>
            <a:r>
              <a:rPr lang="en-US" b="true" sz="3400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 :</a:t>
            </a:r>
          </a:p>
          <a:p>
            <a:pPr algn="l" marL="0" indent="0" lvl="0">
              <a:lnSpc>
                <a:spcPts val="3220"/>
              </a:lnSpc>
            </a:pP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La diminution continue de la loss et l’augmentation de l’accuracy démontrent que le modèle apprend efficacement et généralise correctement sur le dataset CIFAR-10.</a:t>
            </a:r>
          </a:p>
          <a:p>
            <a:pPr algn="l" marL="0" indent="0" lvl="0">
              <a:lnSpc>
                <a:spcPts val="32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65523" y="1889380"/>
            <a:ext cx="10628314" cy="81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3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L’entraînement du modèle s’est déroulé sur 50 époques, montrant une amélioration progressive des performances.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3630840" y="1337564"/>
            <a:ext cx="12972843" cy="62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5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Progression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88393" y="2783460"/>
            <a:ext cx="12972843" cy="62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5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Évoluti</a:t>
            </a:r>
            <a:r>
              <a:rPr lang="en-US" b="true" sz="3399" spc="5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 de la perte (Loss) 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17836" y="2477607"/>
            <a:ext cx="12332999" cy="6780693"/>
          </a:xfrm>
          <a:custGeom>
            <a:avLst/>
            <a:gdLst/>
            <a:ahLst/>
            <a:cxnLst/>
            <a:rect r="r" b="b" t="t" l="l"/>
            <a:pathLst>
              <a:path h="6780693" w="12332999">
                <a:moveTo>
                  <a:pt x="0" y="0"/>
                </a:moveTo>
                <a:lnTo>
                  <a:pt x="12332999" y="0"/>
                </a:lnTo>
                <a:lnTo>
                  <a:pt x="12332999" y="6780693"/>
                </a:lnTo>
                <a:lnTo>
                  <a:pt x="0" y="6780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3353" y="222369"/>
            <a:ext cx="16921295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Entraînement et Analyse de l’Apprentissage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2745" y="1513016"/>
            <a:ext cx="3344466" cy="62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66006" indent="-383003" lvl="1">
              <a:lnSpc>
                <a:spcPts val="4612"/>
              </a:lnSpc>
              <a:spcBef>
                <a:spcPct val="0"/>
              </a:spcBef>
              <a:buAutoNum type="arabicPeriod" startAt="1"/>
            </a:pPr>
            <a:r>
              <a:rPr lang="en-US" b="true" sz="3547" spc="1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POUR ViT::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40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03620"/>
            <a:ext cx="9058762" cy="8139402"/>
          </a:xfrm>
          <a:custGeom>
            <a:avLst/>
            <a:gdLst/>
            <a:ahLst/>
            <a:cxnLst/>
            <a:rect r="r" b="b" t="t" l="l"/>
            <a:pathLst>
              <a:path h="8139402" w="9058762">
                <a:moveTo>
                  <a:pt x="0" y="0"/>
                </a:moveTo>
                <a:lnTo>
                  <a:pt x="9058762" y="0"/>
                </a:lnTo>
                <a:lnTo>
                  <a:pt x="9058762" y="8139402"/>
                </a:lnTo>
                <a:lnTo>
                  <a:pt x="0" y="8139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05591" y="1503620"/>
            <a:ext cx="8589029" cy="8139402"/>
          </a:xfrm>
          <a:custGeom>
            <a:avLst/>
            <a:gdLst/>
            <a:ahLst/>
            <a:cxnLst/>
            <a:rect r="r" b="b" t="t" l="l"/>
            <a:pathLst>
              <a:path h="8139402" w="8589029">
                <a:moveTo>
                  <a:pt x="0" y="0"/>
                </a:moveTo>
                <a:lnTo>
                  <a:pt x="8589029" y="0"/>
                </a:lnTo>
                <a:lnTo>
                  <a:pt x="8589029" y="8139402"/>
                </a:lnTo>
                <a:lnTo>
                  <a:pt x="0" y="8139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7751" y="141605"/>
            <a:ext cx="766326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Suite de configuration 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50630" y="192636"/>
            <a:ext cx="14148807" cy="9700508"/>
          </a:xfrm>
          <a:custGeom>
            <a:avLst/>
            <a:gdLst/>
            <a:ahLst/>
            <a:cxnLst/>
            <a:rect r="r" b="b" t="t" l="l"/>
            <a:pathLst>
              <a:path h="9700508" w="14148807">
                <a:moveTo>
                  <a:pt x="0" y="0"/>
                </a:moveTo>
                <a:lnTo>
                  <a:pt x="14148807" y="0"/>
                </a:lnTo>
                <a:lnTo>
                  <a:pt x="14148807" y="9700508"/>
                </a:lnTo>
                <a:lnTo>
                  <a:pt x="0" y="970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12009" y="6710715"/>
            <a:ext cx="7807414" cy="3464217"/>
          </a:xfrm>
          <a:custGeom>
            <a:avLst/>
            <a:gdLst/>
            <a:ahLst/>
            <a:cxnLst/>
            <a:rect r="r" b="b" t="t" l="l"/>
            <a:pathLst>
              <a:path h="3464217" w="7807414">
                <a:moveTo>
                  <a:pt x="0" y="0"/>
                </a:moveTo>
                <a:lnTo>
                  <a:pt x="7807414" y="0"/>
                </a:lnTo>
                <a:lnTo>
                  <a:pt x="7807414" y="3464216"/>
                </a:lnTo>
                <a:lnTo>
                  <a:pt x="0" y="3464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465" y="223662"/>
            <a:ext cx="13008431" cy="103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</a:pPr>
            <a:r>
              <a:rPr lang="en-US" sz="607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de l’apprentissage (CNN)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6285" y="3489769"/>
            <a:ext cx="16015408" cy="361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</a:pP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fonc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ion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 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ué de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1.78 à 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ère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épo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que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à 0.44 à 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50ᵉ époque,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in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q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nt u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conve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nc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sta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du modèl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l" marL="0" indent="0" lvl="0">
              <a:lnSpc>
                <a:spcPts val="4759"/>
              </a:lnSpc>
            </a:pPr>
            <a:r>
              <a:rPr lang="en-US" b="true" sz="3399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Évolution de la précision (Accuracy) :</a:t>
            </a:r>
          </a:p>
          <a:p>
            <a:pPr algn="l" marL="0" indent="0" lvl="0">
              <a:lnSpc>
                <a:spcPts val="3220"/>
              </a:lnSpc>
            </a:pP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L’accuracy est passée de 42.38 % au début de l’entraînement à environ 80 % en fin d’apprentissage.</a:t>
            </a:r>
          </a:p>
          <a:p>
            <a:pPr algn="l" marL="0" indent="0" lvl="0">
              <a:lnSpc>
                <a:spcPts val="4760"/>
              </a:lnSpc>
            </a:pPr>
            <a:r>
              <a:rPr lang="en-US" b="true" sz="3400" spc="14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 :</a:t>
            </a:r>
          </a:p>
          <a:p>
            <a:pPr algn="l" marL="0" indent="0" lvl="0">
              <a:lnSpc>
                <a:spcPts val="3220"/>
              </a:lnSpc>
            </a:pPr>
            <a:r>
              <a:rPr lang="en-US" sz="2300" spc="96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La diminution régulière de la loss et l’augmentation de l’accuracy montrent que le Vision Transformer apprend efficacement, bien que sa convergence soit plus progressive que celle du CNN.</a:t>
            </a:r>
          </a:p>
          <a:p>
            <a:pPr algn="l" marL="0" indent="0" lvl="0">
              <a:lnSpc>
                <a:spcPts val="32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65523" y="1889380"/>
            <a:ext cx="10628314" cy="161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3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L’entraînement du modèle ViT s’est déroulé sur 50 époques, avec une amélioration progressive des performances.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3630840" y="1337564"/>
            <a:ext cx="12972843" cy="62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5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Progression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88393" y="2783460"/>
            <a:ext cx="12972843" cy="62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5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Évoluti</a:t>
            </a:r>
            <a:r>
              <a:rPr lang="en-US" b="true" sz="3399" spc="5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 de la perte (Loss) 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44097" y="7576910"/>
            <a:ext cx="3919869" cy="3362780"/>
            <a:chOff x="0" y="0"/>
            <a:chExt cx="1257627" cy="1078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627" cy="1078894"/>
            </a:xfrm>
            <a:custGeom>
              <a:avLst/>
              <a:gdLst/>
              <a:ahLst/>
              <a:cxnLst/>
              <a:rect r="r" b="b" t="t" l="l"/>
              <a:pathLst>
                <a:path h="1078894" w="1257627">
                  <a:moveTo>
                    <a:pt x="77027" y="0"/>
                  </a:moveTo>
                  <a:lnTo>
                    <a:pt x="1180600" y="0"/>
                  </a:lnTo>
                  <a:cubicBezTo>
                    <a:pt x="1223141" y="0"/>
                    <a:pt x="1257627" y="34486"/>
                    <a:pt x="1257627" y="77027"/>
                  </a:cubicBezTo>
                  <a:lnTo>
                    <a:pt x="1257627" y="1001867"/>
                  </a:lnTo>
                  <a:cubicBezTo>
                    <a:pt x="1257627" y="1044408"/>
                    <a:pt x="1223141" y="1078894"/>
                    <a:pt x="1180600" y="1078894"/>
                  </a:cubicBezTo>
                  <a:lnTo>
                    <a:pt x="77027" y="1078894"/>
                  </a:lnTo>
                  <a:cubicBezTo>
                    <a:pt x="34486" y="1078894"/>
                    <a:pt x="0" y="1044408"/>
                    <a:pt x="0" y="1001867"/>
                  </a:cubicBezTo>
                  <a:lnTo>
                    <a:pt x="0" y="77027"/>
                  </a:lnTo>
                  <a:cubicBezTo>
                    <a:pt x="0" y="34486"/>
                    <a:pt x="34486" y="0"/>
                    <a:pt x="77027" y="0"/>
                  </a:cubicBezTo>
                  <a:close/>
                </a:path>
              </a:pathLst>
            </a:custGeom>
            <a:blipFill>
              <a:blip r:embed="rId3">
                <a:alphaModFix amt="7999"/>
              </a:blip>
              <a:stretch>
                <a:fillRect l="-7192" t="0" r="-7192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AutoShape 5" id="5"/>
          <p:cNvSpPr/>
          <p:nvPr/>
        </p:nvSpPr>
        <p:spPr>
          <a:xfrm>
            <a:off x="279967" y="6585587"/>
            <a:ext cx="1772806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79967" y="7957187"/>
            <a:ext cx="1772806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889163"/>
            <a:ext cx="14230948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3"/>
              </a:lnSpc>
            </a:pPr>
            <a:r>
              <a:rPr lang="en-US" sz="863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Experimental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41678" y="3466933"/>
            <a:ext cx="5829789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Accuracy sur le test set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Temps d’entraînement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 spc="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699" spc="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ombre de paramètres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5892" y="2631607"/>
            <a:ext cx="5829789" cy="7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b="true" sz="3899" spc="6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C</a:t>
            </a:r>
            <a:r>
              <a:rPr lang="en-US" b="true" sz="3899" spc="6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ritè</a:t>
            </a:r>
            <a:r>
              <a:rPr lang="en-US" b="true" sz="3899" spc="6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 évalués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5892" y="5019675"/>
            <a:ext cx="5829789" cy="7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b="true" sz="3899" spc="6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Résulta</a:t>
            </a:r>
            <a:r>
              <a:rPr lang="en-US" b="true" sz="3899" spc="6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3899" spc="6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 observés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8698" y="5873116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Modèle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9909" y="5873116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74586" y="5873116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Paramètres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4174" y="5873116"/>
            <a:ext cx="4311088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Temps d’entrainement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9967" y="6981826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CNN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8698" y="8585837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89909" y="6981826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83.39%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88732" y="6981826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Rapide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44097" y="6981826"/>
            <a:ext cx="306393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Faible à modéré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89909" y="8585837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80.33%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8732" y="8585837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Plus lent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44097" y="8585837"/>
            <a:ext cx="2133326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Plus élevé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2693" y="7606274"/>
            <a:ext cx="6481607" cy="2231373"/>
          </a:xfrm>
          <a:custGeom>
            <a:avLst/>
            <a:gdLst/>
            <a:ahLst/>
            <a:cxnLst/>
            <a:rect r="r" b="b" t="t" l="l"/>
            <a:pathLst>
              <a:path h="2231373" w="6481607">
                <a:moveTo>
                  <a:pt x="0" y="0"/>
                </a:moveTo>
                <a:lnTo>
                  <a:pt x="6481607" y="0"/>
                </a:lnTo>
                <a:lnTo>
                  <a:pt x="6481607" y="2231373"/>
                </a:lnTo>
                <a:lnTo>
                  <a:pt x="0" y="2231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3988" y="7606274"/>
            <a:ext cx="6746025" cy="2191384"/>
          </a:xfrm>
          <a:custGeom>
            <a:avLst/>
            <a:gdLst/>
            <a:ahLst/>
            <a:cxnLst/>
            <a:rect r="r" b="b" t="t" l="l"/>
            <a:pathLst>
              <a:path h="2191384" w="6746025">
                <a:moveTo>
                  <a:pt x="0" y="0"/>
                </a:moveTo>
                <a:lnTo>
                  <a:pt x="6746025" y="0"/>
                </a:lnTo>
                <a:lnTo>
                  <a:pt x="6746025" y="2191384"/>
                </a:lnTo>
                <a:lnTo>
                  <a:pt x="0" y="2191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2693" y="1739601"/>
            <a:ext cx="8912654" cy="276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</a:pPr>
            <a:r>
              <a:rPr lang="en-US" b="true" sz="2619" spc="11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CNN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–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oi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ès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eff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ica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su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tits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atase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Moi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coû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teu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x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lc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onvergence rapide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Architecture inductive adaptée aux images</a:t>
            </a:r>
          </a:p>
          <a:p>
            <a:pPr algn="l" marL="0" indent="0" lvl="0">
              <a:lnSpc>
                <a:spcPts val="366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57119" y="397874"/>
            <a:ext cx="14643965" cy="111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9"/>
              </a:lnSpc>
            </a:pPr>
            <a:r>
              <a:rPr lang="en-US" sz="6407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Comparative Analysis – CNN vs ViT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2693" y="4668798"/>
            <a:ext cx="7354667" cy="1764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</a:pPr>
            <a:r>
              <a:rPr lang="en-US" b="true" sz="2619" spc="11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CNN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– Limites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Champ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réceptif local</a:t>
            </a:r>
          </a:p>
          <a:p>
            <a:pPr algn="l" marL="522427" indent="-261213" lvl="1">
              <a:lnSpc>
                <a:spcPts val="3387"/>
              </a:lnSpc>
              <a:buFont typeface="Arial"/>
              <a:buChar char="•"/>
            </a:pP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Diffi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cul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té à</a:t>
            </a:r>
            <a:r>
              <a:rPr lang="en-US" sz="2419" spc="101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capturer des relations globales</a:t>
            </a:r>
          </a:p>
          <a:p>
            <a:pPr algn="l" marL="0" indent="0" lvl="0">
              <a:lnSpc>
                <a:spcPts val="338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375346" y="1739601"/>
            <a:ext cx="8912654" cy="276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</a:pPr>
            <a:r>
              <a:rPr lang="en-US" b="true" sz="2619" spc="11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ViT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– Points forts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Att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nt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ion globale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Excellente cap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ité 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génér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alisation sur grands datasets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Architecture flexible</a:t>
            </a:r>
          </a:p>
          <a:p>
            <a:pPr algn="l" marL="0" indent="0" lvl="0">
              <a:lnSpc>
                <a:spcPts val="366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375346" y="4668798"/>
            <a:ext cx="7354667" cy="319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</a:pPr>
            <a:r>
              <a:rPr lang="en-US" b="true" sz="2619" spc="11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ViT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– Limites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Besoin de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grandes quantités de données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Coût computationnel élevé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ns per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ormant q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ue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CNN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sur petits datasets comme CIFAR-10</a:t>
            </a:r>
          </a:p>
          <a:p>
            <a:pPr algn="l" marL="0" indent="0" lvl="0">
              <a:lnSpc>
                <a:spcPts val="3387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3771" y="312358"/>
            <a:ext cx="9536271" cy="1480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65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28027"/>
            <a:ext cx="11864454" cy="230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CNN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r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ste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très perf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rma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 effi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ac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po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ur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sets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ail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 modérée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Les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isi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 Transformer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offren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u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pote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nt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iel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supé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ri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mai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néces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site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van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do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né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ou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</a:p>
          <a:p>
            <a:pPr algn="l" marL="0" indent="0" lvl="0">
              <a:lnSpc>
                <a:spcPts val="366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55220" y="1707418"/>
            <a:ext cx="8053372" cy="52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7"/>
              </a:lnSpc>
            </a:pPr>
            <a:r>
              <a:rPr lang="en-US" b="true" sz="2919" spc="12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Ce</a:t>
            </a:r>
            <a:r>
              <a:rPr lang="en-US" b="true" sz="2919" spc="12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tte étude comparative montre</a:t>
            </a:r>
            <a:r>
              <a:rPr lang="en-US" b="true" sz="2919" spc="12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q</a:t>
            </a:r>
            <a:r>
              <a:rPr lang="en-US" b="true" sz="2919" spc="122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ue :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850041" y="1028700"/>
            <a:ext cx="7319235" cy="7319235"/>
            <a:chOff x="0" y="0"/>
            <a:chExt cx="8916670" cy="8916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3">
                <a:alphaModFix amt="43000"/>
              </a:blip>
              <a:stretch>
                <a:fillRect l="-56842" t="0" r="0" b="-17489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  <a:moveTo>
                    <a:pt x="4451350" y="8764270"/>
                  </a:moveTo>
                  <a:cubicBezTo>
                    <a:pt x="2073910" y="8764270"/>
                    <a:pt x="139700" y="6830060"/>
                    <a:pt x="139700" y="4451350"/>
                  </a:cubicBezTo>
                  <a:cubicBezTo>
                    <a:pt x="139700" y="2072640"/>
                    <a:pt x="2073910" y="139700"/>
                    <a:pt x="4451350" y="139700"/>
                  </a:cubicBezTo>
                  <a:cubicBezTo>
                    <a:pt x="6828790" y="139700"/>
                    <a:pt x="8764270" y="2073910"/>
                    <a:pt x="8764270" y="4451350"/>
                  </a:cubicBezTo>
                  <a:cubicBezTo>
                    <a:pt x="8764270" y="6828790"/>
                    <a:pt x="6830060" y="8764270"/>
                    <a:pt x="4451350" y="8764270"/>
                  </a:cubicBezTo>
                  <a:close/>
                  <a:moveTo>
                    <a:pt x="4451350" y="158750"/>
                  </a:moveTo>
                  <a:cubicBezTo>
                    <a:pt x="2084070" y="158750"/>
                    <a:pt x="158750" y="2084070"/>
                    <a:pt x="158750" y="4451350"/>
                  </a:cubicBezTo>
                  <a:cubicBezTo>
                    <a:pt x="158750" y="6818630"/>
                    <a:pt x="2084070" y="8743950"/>
                    <a:pt x="4451350" y="8743950"/>
                  </a:cubicBezTo>
                  <a:cubicBezTo>
                    <a:pt x="6818630" y="8743950"/>
                    <a:pt x="8743950" y="6818630"/>
                    <a:pt x="8743950" y="4451350"/>
                  </a:cubicBezTo>
                  <a:cubicBezTo>
                    <a:pt x="8743950" y="2084070"/>
                    <a:pt x="6819900" y="158750"/>
                    <a:pt x="4451350" y="15875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A5FF">
                    <a:alpha val="43000"/>
                  </a:srgbClr>
                </a:gs>
                <a:gs pos="100000">
                  <a:srgbClr val="041E4E">
                    <a:alpha val="43000"/>
                  </a:srgbClr>
                </a:gs>
              </a:gsLst>
              <a:lin ang="5400000"/>
            </a:gra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4847486"/>
            <a:ext cx="11864454" cy="230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Le choix entre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CNN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 ViT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dépend d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onc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: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lle du 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taset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ress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ources 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sponibles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 la comple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xité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 la tâch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</a:p>
          <a:p>
            <a:pPr algn="l" marL="0" indent="0" lvl="0">
              <a:lnSpc>
                <a:spcPts val="366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066944"/>
            <a:ext cx="11864454" cy="184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</a:pPr>
            <a:r>
              <a:rPr lang="en-US" b="true" sz="2619" spc="11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Persp</a:t>
            </a:r>
            <a:r>
              <a:rPr lang="en-US" b="true" sz="2619" spc="110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ectives futures :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Utilisation de modèles hybrides (CNN + Transforme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r)</a:t>
            </a:r>
          </a:p>
          <a:p>
            <a:pPr algn="l" marL="565606" indent="-282803" lvl="1">
              <a:lnSpc>
                <a:spcPts val="3667"/>
              </a:lnSpc>
              <a:buFont typeface="Arial"/>
              <a:buChar char="•"/>
            </a:pP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Entraînemen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 sur de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atasets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plus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19" spc="110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larges</a:t>
            </a:r>
          </a:p>
          <a:p>
            <a:pPr algn="l" marL="0" indent="0" lvl="0">
              <a:lnSpc>
                <a:spcPts val="3667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DAG_4RMDMLo</dc:identifier>
  <dcterms:modified xsi:type="dcterms:W3CDTF">2011-08-01T06:04:30Z</dcterms:modified>
  <cp:revision>1</cp:revision>
  <dc:title>Étude comparative entre un CNN et un Vision Transformer pour la classification d’images</dc:title>
</cp:coreProperties>
</file>